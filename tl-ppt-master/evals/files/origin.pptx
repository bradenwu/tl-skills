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793" r:id="rId3"/>
    <p:sldId id="794" r:id="rId4"/>
    <p:sldId id="795" r:id="rId5"/>
    <p:sldId id="796" r:id="rId6"/>
    <p:sldId id="797" r:id="rId7"/>
    <p:sldId id="798" r:id="rId8"/>
    <p:sldId id="799" r:id="rId9"/>
    <p:sldId id="800" r:id="rId10"/>
    <p:sldId id="801" r:id="rId11"/>
    <p:sldId id="802" r:id="rId12"/>
    <p:sldId id="803" r:id="rId13"/>
    <p:sldId id="804" r:id="rId14"/>
    <p:sldId id="805" r:id="rId15"/>
    <p:sldId id="806" r:id="rId16"/>
    <p:sldId id="807" r:id="rId17"/>
    <p:sldId id="808" r:id="rId18"/>
    <p:sldId id="809" r:id="rId19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8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396"/>
    <p:restoredTop sz="94729"/>
  </p:normalViewPr>
  <p:slideViewPr>
    <p:cSldViewPr showGuides="1">
      <p:cViewPr>
        <p:scale>
          <a:sx n="66" d="100"/>
          <a:sy n="66" d="100"/>
        </p:scale>
        <p:origin x="-1757" y="-384"/>
      </p:cViewPr>
      <p:guideLst>
        <p:guide orient="horz" pos="2114"/>
        <p:guide pos="2880"/>
      </p:guideLst>
    </p:cSldViewPr>
  </p:slideViewPr>
  <p:outlineViewPr>
    <p:cViewPr>
      <p:scale>
        <a:sx n="33" d="100"/>
        <a:sy n="33" d="100"/>
      </p:scale>
      <p:origin x="0" y="6682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zh-CN" altLang="en-US" sz="1200" strike="noStrike" noProof="1" dirty="0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469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8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0 w 1000"/>
              <a:gd name="T3" fmla="*/ 0 h 1000"/>
              <a:gd name="T4" fmla="*/ 0 w 1000"/>
              <a:gd name="T5" fmla="*/ 0 h 1000"/>
              <a:gd name="T6" fmla="*/ 0 w 1000"/>
              <a:gd name="T7" fmla="*/ 0 h 1000"/>
              <a:gd name="T8" fmla="*/ 0 w 1000"/>
              <a:gd name="T9" fmla="*/ 0 h 1000"/>
              <a:gd name="T10" fmla="*/ 0 w 1000"/>
              <a:gd name="T11" fmla="*/ 0 h 1000"/>
              <a:gd name="T12" fmla="*/ 3163 w 1000"/>
              <a:gd name="T13" fmla="*/ 3163 h 1000"/>
              <a:gd name="T14" fmla="*/ 18437 w 1000"/>
              <a:gd name="T15" fmla="*/ 18437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8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80403050404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Verdana" panose="020B08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5.5</a:t>
            </a:r>
            <a:r>
              <a:rPr lang="zh-CN" altLang="en-US" dirty="0">
                <a:solidFill>
                  <a:srgbClr val="FF0000"/>
                </a:solidFill>
              </a:rPr>
              <a:t>用例图</a:t>
            </a:r>
            <a:r>
              <a:rPr lang="en-US" altLang="zh-CN" dirty="0">
                <a:latin typeface="Arial" panose="020B0604020202090204" pitchFamily="34" charset="0"/>
              </a:rPr>
              <a:t>—</a:t>
            </a:r>
            <a:r>
              <a:rPr lang="zh-CN" altLang="en-US" dirty="0"/>
              <a:t>认识用例图</a:t>
            </a:r>
            <a:endParaRPr lang="zh-CN" altLang="en-US" dirty="0"/>
          </a:p>
        </p:txBody>
      </p:sp>
      <p:sp>
        <p:nvSpPr>
          <p:cNvPr id="45058" name="Rectangle 3"/>
          <p:cNvSpPr/>
          <p:nvPr/>
        </p:nvSpPr>
        <p:spPr>
          <a:xfrm>
            <a:off x="0" y="23288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45059" name="Object 4"/>
          <p:cNvGraphicFramePr/>
          <p:nvPr/>
        </p:nvGraphicFramePr>
        <p:xfrm>
          <a:off x="1619250" y="1916113"/>
          <a:ext cx="5832475" cy="424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4554220" imgH="4141470" progId="Visio.Drawing.11">
                  <p:embed/>
                </p:oleObj>
              </mc:Choice>
              <mc:Fallback>
                <p:oleObj name="" r:id="rId1" imgW="4554220" imgH="414147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1916113"/>
                        <a:ext cx="5832475" cy="424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5"/>
          <p:cNvSpPr txBox="1"/>
          <p:nvPr/>
        </p:nvSpPr>
        <p:spPr>
          <a:xfrm>
            <a:off x="539750" y="3068638"/>
            <a:ext cx="1008063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804030504040204" pitchFamily="34" charset="0"/>
                <a:ea typeface="宋体" pitchFamily="2" charset="-122"/>
              </a:rPr>
              <a:t>用例</a:t>
            </a:r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5061" name="Line 6"/>
          <p:cNvSpPr/>
          <p:nvPr/>
        </p:nvSpPr>
        <p:spPr>
          <a:xfrm flipV="1">
            <a:off x="971550" y="2565400"/>
            <a:ext cx="107950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45062" name="Text Box 7"/>
          <p:cNvSpPr txBox="1"/>
          <p:nvPr/>
        </p:nvSpPr>
        <p:spPr>
          <a:xfrm>
            <a:off x="5508625" y="5373688"/>
            <a:ext cx="1727200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804030504040204" pitchFamily="34" charset="0"/>
                <a:ea typeface="宋体" pitchFamily="2" charset="-122"/>
              </a:rPr>
              <a:t>角色</a:t>
            </a:r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5063" name="Line 8"/>
          <p:cNvSpPr/>
          <p:nvPr/>
        </p:nvSpPr>
        <p:spPr>
          <a:xfrm flipH="1" flipV="1">
            <a:off x="4859338" y="4941888"/>
            <a:ext cx="1008062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45064" name="Text Box 9"/>
          <p:cNvSpPr txBox="1"/>
          <p:nvPr/>
        </p:nvSpPr>
        <p:spPr>
          <a:xfrm>
            <a:off x="7667625" y="2205038"/>
            <a:ext cx="865188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804030504040204" pitchFamily="34" charset="0"/>
                <a:ea typeface="宋体" pitchFamily="2" charset="-122"/>
              </a:rPr>
              <a:t>关系</a:t>
            </a:r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5065" name="Line 10"/>
          <p:cNvSpPr/>
          <p:nvPr/>
        </p:nvSpPr>
        <p:spPr>
          <a:xfrm flipH="1">
            <a:off x="5292725" y="2492375"/>
            <a:ext cx="2447925" cy="5762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45066" name="Text Box 11"/>
          <p:cNvSpPr txBox="1"/>
          <p:nvPr/>
        </p:nvSpPr>
        <p:spPr>
          <a:xfrm>
            <a:off x="611188" y="6237288"/>
            <a:ext cx="3600450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804030504040204" pitchFamily="34" charset="0"/>
                <a:ea typeface="宋体" pitchFamily="2" charset="-122"/>
              </a:rPr>
              <a:t>注意：图中的虚线是解释</a:t>
            </a:r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en-US" altLang="zh-CN" dirty="0">
                <a:latin typeface="宋体" pitchFamily="2" charset="-122"/>
              </a:rPr>
              <a:t>5.5 </a:t>
            </a:r>
            <a:r>
              <a:rPr lang="zh-CN" altLang="en-US" dirty="0">
                <a:latin typeface="宋体" pitchFamily="2" charset="-122"/>
              </a:rPr>
              <a:t>用例图（续）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用例图：用于描述一组用例、角色以及它们之间的关系。一个系统的用例图通常是概要地反映整个系统提供的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外部可见服务和工作范围。</a:t>
            </a:r>
            <a:endParaRPr lang="zh-CN" altLang="en-US" b="1" dirty="0">
              <a:solidFill>
                <a:srgbClr val="FF0000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用例图的基本元素：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用例、角色和关系</a:t>
            </a:r>
            <a:r>
              <a:rPr lang="zh-CN" altLang="en-US" dirty="0">
                <a:latin typeface="宋体" pitchFamily="2" charset="-122"/>
              </a:rPr>
              <a:t>。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进行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需求分析</a:t>
            </a:r>
            <a:r>
              <a:rPr lang="zh-CN" altLang="en-US" dirty="0">
                <a:latin typeface="宋体" pitchFamily="2" charset="-122"/>
              </a:rPr>
              <a:t>时，通常将整个系统看作一个黑盒子，从系统外部的视点出发观察系统：它应该做什么？谁要它做？做了以后的结果送给谁？这些正是用例图要表现的。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</a:t>
            </a:r>
            <a:endParaRPr lang="zh-CN" altLang="en-US" dirty="0"/>
          </a:p>
        </p:txBody>
      </p:sp>
      <p:sp>
        <p:nvSpPr>
          <p:cNvPr id="47106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/>
            <a:r>
              <a:rPr lang="zh-CN" altLang="en-US" dirty="0">
                <a:latin typeface="宋体" pitchFamily="2" charset="-122"/>
              </a:rPr>
              <a:t>在</a:t>
            </a:r>
            <a:r>
              <a:rPr lang="en-US" altLang="zh-CN" dirty="0">
                <a:latin typeface="宋体" pitchFamily="2" charset="-122"/>
              </a:rPr>
              <a:t>UML</a:t>
            </a:r>
            <a:r>
              <a:rPr lang="zh-CN" altLang="en-US" dirty="0">
                <a:latin typeface="宋体" pitchFamily="2" charset="-122"/>
              </a:rPr>
              <a:t>中用例的符号是一个椭圆，通常以动词或短语来命名。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/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用例是软件开发的核心元素，需求是由用例来表达的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界面</a:t>
            </a:r>
            <a:r>
              <a:rPr lang="zh-CN" altLang="en-US" dirty="0">
                <a:latin typeface="宋体" pitchFamily="2" charset="-122"/>
              </a:rPr>
              <a:t>是在用例的辅助下设计的，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类</a:t>
            </a:r>
            <a:r>
              <a:rPr lang="zh-CN" altLang="en-US" dirty="0">
                <a:latin typeface="宋体" pitchFamily="2" charset="-122"/>
              </a:rPr>
              <a:t>是根据用例来发现的，测试数据是根据用例来生成的，整个开发的管理和任务分配，也是依据用例来组织的。用例简直太重要了！</a:t>
            </a:r>
            <a:endParaRPr lang="zh-CN" altLang="en-US" dirty="0">
              <a:latin typeface="宋体" pitchFamily="2" charset="-122"/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角色</a:t>
            </a:r>
            <a:endParaRPr lang="zh-CN" altLang="en-US" dirty="0"/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latin typeface="宋体" pitchFamily="2" charset="-122"/>
              </a:rPr>
              <a:t>角色是指与系统交互的人或物。</a:t>
            </a:r>
            <a:endParaRPr lang="zh-CN" altLang="en-US" sz="26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latin typeface="宋体" pitchFamily="2" charset="-122"/>
              </a:rPr>
              <a:t>角色可以有四种类型：系统的使用者、硬件设备、外部系统和时间。</a:t>
            </a:r>
            <a:endParaRPr lang="zh-CN" altLang="en-US" sz="2600" dirty="0">
              <a:latin typeface="宋体" pitchFamily="2" charset="-122"/>
            </a:endParaRPr>
          </a:p>
          <a:p>
            <a:pPr lvl="1" indent="-436245" eaLnBrk="1" hangingPunct="1">
              <a:lnSpc>
                <a:spcPct val="90000"/>
              </a:lnSpc>
            </a:pPr>
            <a:r>
              <a:rPr lang="zh-CN" altLang="en-US" sz="2200" dirty="0">
                <a:latin typeface="宋体" pitchFamily="2" charset="-122"/>
              </a:rPr>
              <a:t>系统使用者是最重要的角色，例如，在图书信息管理系统中的系统使用者有读者和图书馆的工作人员，包括采购、编目和办公室的工作人员。</a:t>
            </a:r>
            <a:endParaRPr lang="zh-CN" altLang="en-US" sz="2200" dirty="0">
              <a:latin typeface="宋体" pitchFamily="2" charset="-122"/>
            </a:endParaRPr>
          </a:p>
          <a:p>
            <a:pPr lvl="1" indent="-436245" eaLnBrk="1" hangingPunct="1">
              <a:lnSpc>
                <a:spcPct val="90000"/>
              </a:lnSpc>
            </a:pPr>
            <a:r>
              <a:rPr lang="zh-CN" altLang="en-US" sz="2200" dirty="0">
                <a:latin typeface="宋体" pitchFamily="2" charset="-122"/>
              </a:rPr>
              <a:t>其他外部应用系统。</a:t>
            </a:r>
            <a:endParaRPr lang="zh-CN" altLang="en-US" sz="2200" dirty="0">
              <a:latin typeface="宋体" pitchFamily="2" charset="-122"/>
            </a:endParaRPr>
          </a:p>
          <a:p>
            <a:pPr lvl="1" indent="-436245" eaLnBrk="1" hangingPunct="1">
              <a:lnSpc>
                <a:spcPct val="90000"/>
              </a:lnSpc>
            </a:pPr>
            <a:r>
              <a:rPr lang="zh-CN" altLang="en-US" sz="2200" dirty="0">
                <a:latin typeface="宋体" pitchFamily="2" charset="-122"/>
              </a:rPr>
              <a:t>硬件设备，不同的硬件设备具有不同的特性和不同的处理方式。</a:t>
            </a:r>
            <a:endParaRPr lang="zh-CN" altLang="en-US" sz="2200" dirty="0">
              <a:latin typeface="宋体" pitchFamily="2" charset="-122"/>
            </a:endParaRPr>
          </a:p>
          <a:p>
            <a:pPr lvl="1" indent="-436245" eaLnBrk="1" hangingPunct="1">
              <a:lnSpc>
                <a:spcPct val="90000"/>
              </a:lnSpc>
            </a:pPr>
            <a:r>
              <a:rPr lang="zh-CN" altLang="en-US" sz="2200" dirty="0">
                <a:latin typeface="宋体" pitchFamily="2" charset="-122"/>
              </a:rPr>
              <a:t>时间作为角色</a:t>
            </a:r>
            <a:r>
              <a:rPr lang="en-US" altLang="zh-CN" sz="2200" dirty="0">
                <a:latin typeface="宋体" pitchFamily="2" charset="-122"/>
              </a:rPr>
              <a:t>,</a:t>
            </a:r>
            <a:r>
              <a:rPr lang="zh-CN" altLang="en-US" sz="2200" dirty="0">
                <a:latin typeface="宋体" pitchFamily="2" charset="-122"/>
              </a:rPr>
              <a:t>经过一定的时间触发系统中的某个事件。</a:t>
            </a:r>
            <a:r>
              <a:rPr lang="zh-CN" altLang="en-US" sz="2200" dirty="0"/>
              <a:t> 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关系</a:t>
            </a:r>
            <a:r>
              <a:rPr lang="en-US" altLang="zh-CN" dirty="0">
                <a:latin typeface="Arial" panose="020B0604020202090204" pitchFamily="34" charset="0"/>
              </a:rPr>
              <a:t>——</a:t>
            </a:r>
            <a:r>
              <a:rPr lang="zh-CN" altLang="en-US" dirty="0"/>
              <a:t>角色与用例之间的关系</a:t>
            </a:r>
            <a:endParaRPr lang="zh-CN" altLang="en-US" dirty="0"/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2755900"/>
          </a:xfrm>
        </p:spPr>
        <p:txBody>
          <a:bodyPr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通信关系</a:t>
            </a:r>
            <a:r>
              <a:rPr lang="en-US" altLang="zh-CN" dirty="0">
                <a:latin typeface="Arial" panose="020B0604020202090204" pitchFamily="34" charset="0"/>
              </a:rPr>
              <a:t>——</a:t>
            </a:r>
            <a:r>
              <a:rPr lang="zh-CN" altLang="en-US" dirty="0">
                <a:latin typeface="宋体" pitchFamily="2" charset="-122"/>
              </a:rPr>
              <a:t>描述角色与用例之间的关系。例如，当读者还书时，图书馆工作人员启动系统的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>
                <a:latin typeface="宋体" pitchFamily="2" charset="-122"/>
              </a:rPr>
              <a:t>还书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latin typeface="宋体" pitchFamily="2" charset="-122"/>
              </a:rPr>
              <a:t>用例，进行还书处理。用例也可以启动与角色的通信，例如，还书时，如果该书有预订记录，则系统的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>
                <a:latin typeface="宋体" pitchFamily="2" charset="-122"/>
              </a:rPr>
              <a:t>通知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latin typeface="宋体" pitchFamily="2" charset="-122"/>
              </a:rPr>
              <a:t>用例启动与读者的通信，通知读者前来借书。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9155" name="Rectangle 4"/>
          <p:cNvSpPr/>
          <p:nvPr/>
        </p:nvSpPr>
        <p:spPr>
          <a:xfrm>
            <a:off x="0" y="28622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9156" name="Oval 5"/>
          <p:cNvSpPr/>
          <p:nvPr/>
        </p:nvSpPr>
        <p:spPr>
          <a:xfrm>
            <a:off x="2051050" y="4868863"/>
            <a:ext cx="936625" cy="431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9157" name="Oval 6"/>
          <p:cNvSpPr/>
          <p:nvPr/>
        </p:nvSpPr>
        <p:spPr>
          <a:xfrm>
            <a:off x="3995738" y="4868863"/>
            <a:ext cx="936625" cy="431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9158" name="Line 7"/>
          <p:cNvSpPr/>
          <p:nvPr/>
        </p:nvSpPr>
        <p:spPr>
          <a:xfrm>
            <a:off x="1476375" y="5084763"/>
            <a:ext cx="574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9159" name="Line 8"/>
          <p:cNvSpPr/>
          <p:nvPr/>
        </p:nvSpPr>
        <p:spPr>
          <a:xfrm>
            <a:off x="4932363" y="5084763"/>
            <a:ext cx="576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9160" name="Line 9"/>
          <p:cNvSpPr/>
          <p:nvPr/>
        </p:nvSpPr>
        <p:spPr>
          <a:xfrm flipH="1">
            <a:off x="2987675" y="5084763"/>
            <a:ext cx="10080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Dot"/>
            <a:round/>
            <a:headEnd type="none" w="med" len="med"/>
            <a:tailEnd type="arrow" w="med" len="med"/>
          </a:ln>
        </p:spPr>
      </p:sp>
      <p:sp>
        <p:nvSpPr>
          <p:cNvPr id="49161" name="AutoShape 10"/>
          <p:cNvSpPr/>
          <p:nvPr/>
        </p:nvSpPr>
        <p:spPr>
          <a:xfrm>
            <a:off x="971550" y="4652963"/>
            <a:ext cx="431800" cy="8636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9162" name="AutoShape 11"/>
          <p:cNvSpPr/>
          <p:nvPr/>
        </p:nvSpPr>
        <p:spPr>
          <a:xfrm>
            <a:off x="5508625" y="4652963"/>
            <a:ext cx="431800" cy="8636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49163" name="Text Box 12"/>
          <p:cNvSpPr txBox="1"/>
          <p:nvPr/>
        </p:nvSpPr>
        <p:spPr>
          <a:xfrm>
            <a:off x="1692275" y="5734050"/>
            <a:ext cx="2519363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用例之间的关系</a:t>
            </a:r>
            <a:endParaRPr lang="zh-CN" altLang="en-US" dirty="0"/>
          </a:p>
        </p:txBody>
      </p:sp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566738" y="1752600"/>
            <a:ext cx="4797425" cy="4413250"/>
          </a:xfrm>
        </p:spPr>
        <p:txBody>
          <a:bodyPr wrap="square" lIns="91440" tIns="45720" rIns="91440" bIns="45720" anchor="t" anchorCtr="0"/>
          <a:p>
            <a:pPr eaLnBrk="1" hangingPunct="1"/>
            <a:r>
              <a:rPr lang="zh-CN" altLang="en-US" dirty="0">
                <a:latin typeface="宋体" pitchFamily="2" charset="-122"/>
              </a:rPr>
              <a:t>包含关系</a:t>
            </a:r>
            <a:r>
              <a:rPr lang="en-US" altLang="zh-CN" dirty="0">
                <a:latin typeface="Arial" panose="020B0604020202090204" pitchFamily="34" charset="0"/>
              </a:rPr>
              <a:t>——</a:t>
            </a:r>
            <a:r>
              <a:rPr lang="zh-CN" altLang="en-US" dirty="0">
                <a:latin typeface="宋体" pitchFamily="2" charset="-122"/>
              </a:rPr>
              <a:t>包含关系用于构造多个用例共同的活动。例如，在</a:t>
            </a:r>
            <a:r>
              <a:rPr lang="en-US" altLang="zh-CN" dirty="0">
                <a:latin typeface="宋体" pitchFamily="2" charset="-122"/>
              </a:rPr>
              <a:t>ATM</a:t>
            </a:r>
            <a:r>
              <a:rPr lang="zh-CN" altLang="en-US" dirty="0">
                <a:latin typeface="宋体" pitchFamily="2" charset="-122"/>
              </a:rPr>
              <a:t>系统中，取钱、查询、更改密码等功能都需要验证用户名和密码。这种情况下应该将密码验证功能独立出来，便于复用、减少冗余。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0179" name="Rectangle 4"/>
          <p:cNvSpPr/>
          <p:nvPr/>
        </p:nvSpPr>
        <p:spPr>
          <a:xfrm>
            <a:off x="0" y="268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50180" name="Object 5"/>
          <p:cNvGraphicFramePr/>
          <p:nvPr/>
        </p:nvGraphicFramePr>
        <p:xfrm>
          <a:off x="5435600" y="2205038"/>
          <a:ext cx="3708400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195445" imgH="2797175" progId="Visio.Drawing.11">
                  <p:embed/>
                </p:oleObj>
              </mc:Choice>
              <mc:Fallback>
                <p:oleObj name="" r:id="rId1" imgW="4195445" imgH="279717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5600" y="2205038"/>
                        <a:ext cx="3708400" cy="247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用例之间的关系（续）</a:t>
            </a:r>
            <a:endParaRPr lang="zh-CN" altLang="en-US" dirty="0"/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eaLnBrk="1" hangingPunct="1"/>
            <a:r>
              <a:rPr lang="zh-CN" altLang="en-US" dirty="0">
                <a:latin typeface="宋体" pitchFamily="2" charset="-122"/>
              </a:rPr>
              <a:t>扩展关系</a:t>
            </a:r>
            <a:r>
              <a:rPr lang="en-US" altLang="zh-CN" dirty="0">
                <a:latin typeface="Arial" panose="020B0604020202090204" pitchFamily="34" charset="0"/>
              </a:rPr>
              <a:t>——</a:t>
            </a:r>
            <a:r>
              <a:rPr lang="zh-CN" altLang="en-US" dirty="0">
                <a:latin typeface="宋体" pitchFamily="2" charset="-122"/>
              </a:rPr>
              <a:t>允许一个用例扩展另一个用例的功能。例如，在图书信息管理系统中，读者还书时，系统检查所还图书是否有预订记录，如果有则执行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>
                <a:latin typeface="宋体" pitchFamily="2" charset="-122"/>
              </a:rPr>
              <a:t>通知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latin typeface="宋体" pitchFamily="2" charset="-122"/>
              </a:rPr>
              <a:t>用例。在</a:t>
            </a:r>
            <a:r>
              <a:rPr lang="en-US" altLang="zh-CN" dirty="0">
                <a:latin typeface="宋体" pitchFamily="2" charset="-122"/>
              </a:rPr>
              <a:t>UML</a:t>
            </a:r>
            <a:r>
              <a:rPr lang="zh-CN" altLang="en-US" dirty="0">
                <a:latin typeface="宋体" pitchFamily="2" charset="-122"/>
              </a:rPr>
              <a:t>中扩展关系表示为箭头和</a:t>
            </a:r>
            <a:r>
              <a:rPr lang="en-US" altLang="zh-CN" dirty="0">
                <a:latin typeface="宋体" pitchFamily="2" charset="-122"/>
              </a:rPr>
              <a:t>extend</a:t>
            </a:r>
            <a:r>
              <a:rPr lang="zh-CN" altLang="en-US" dirty="0">
                <a:latin typeface="宋体" pitchFamily="2" charset="-122"/>
              </a:rPr>
              <a:t>形式。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1203" name="Rectangle 4"/>
          <p:cNvSpPr/>
          <p:nvPr/>
        </p:nvSpPr>
        <p:spPr>
          <a:xfrm>
            <a:off x="0" y="28622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51204" name="Object 5"/>
          <p:cNvGraphicFramePr/>
          <p:nvPr/>
        </p:nvGraphicFramePr>
        <p:xfrm>
          <a:off x="1979613" y="4341813"/>
          <a:ext cx="5113337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472555" imgH="2133600" progId="Visio.Drawing.11">
                  <p:embed/>
                </p:oleObj>
              </mc:Choice>
              <mc:Fallback>
                <p:oleObj name="" r:id="rId1" imgW="6472555" imgH="2133600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613" y="4341813"/>
                        <a:ext cx="5113337" cy="168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用例或角色之间的继承关系</a:t>
            </a:r>
            <a:endParaRPr lang="zh-CN" altLang="en-US" dirty="0"/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/>
            <a:r>
              <a:rPr lang="zh-CN" altLang="en-US" dirty="0">
                <a:latin typeface="宋体" pitchFamily="2" charset="-122"/>
              </a:rPr>
              <a:t>泛化关系</a:t>
            </a:r>
            <a:r>
              <a:rPr lang="en-US" altLang="zh-CN" dirty="0">
                <a:latin typeface="Arial" panose="020B0604020202090204" pitchFamily="34" charset="0"/>
              </a:rPr>
              <a:t>——</a:t>
            </a:r>
            <a:r>
              <a:rPr lang="zh-CN" altLang="en-US" dirty="0">
                <a:latin typeface="宋体" pitchFamily="2" charset="-122"/>
              </a:rPr>
              <a:t>有时角色或用例之间存在一种继承关系。例如，客户区分为公司客户与个人客户，公司客户又区分为政府机构和私人公司，这时，描述角色之间的关系就可以用泛化关系表示。</a:t>
            </a:r>
            <a:endParaRPr lang="zh-CN" altLang="en-US" dirty="0">
              <a:latin typeface="宋体" pitchFamily="2" charset="-122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53251" name="Rectangle 4"/>
          <p:cNvSpPr/>
          <p:nvPr/>
        </p:nvSpPr>
        <p:spPr>
          <a:xfrm>
            <a:off x="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53252" name="Object 5"/>
          <p:cNvGraphicFramePr/>
          <p:nvPr/>
        </p:nvGraphicFramePr>
        <p:xfrm>
          <a:off x="684213" y="4221163"/>
          <a:ext cx="2152650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65780" imgH="3406775" progId="Visio.Drawing.11">
                  <p:embed/>
                </p:oleObj>
              </mc:Choice>
              <mc:Fallback>
                <p:oleObj name="" r:id="rId1" imgW="3065780" imgH="340677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4221163"/>
                        <a:ext cx="2152650" cy="23669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Rectangle 6"/>
          <p:cNvSpPr/>
          <p:nvPr/>
        </p:nvSpPr>
        <p:spPr>
          <a:xfrm>
            <a:off x="0" y="2914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注意</a:t>
            </a:r>
            <a:endParaRPr lang="zh-CN" altLang="en-US" dirty="0"/>
          </a:p>
        </p:txBody>
      </p:sp>
      <p:sp>
        <p:nvSpPr>
          <p:cNvPr id="54274" name="Rectangle 3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4797425" cy="4267200"/>
          </a:xfrm>
        </p:spPr>
        <p:txBody>
          <a:bodyPr wrap="square" lIns="91440" tIns="45720" rIns="91440" bIns="45720" anchor="t" anchorCtr="0"/>
          <a:p>
            <a:pPr algn="just" eaLnBrk="1" hangingPunct="1">
              <a:lnSpc>
                <a:spcPct val="9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dirty="0">
                <a:latin typeface="宋体" pitchFamily="2" charset="-122"/>
              </a:rPr>
              <a:t>用例之间的泛化关系就像类之间的泛化关系一样，子用例继承父用例的行为和含义。例如，一个银行系统中，有一个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验证用户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用例，用于验证用户的合法性，它有两个特殊的子用例，一个是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检查密码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，另一个是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检查指纹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，它们都有父用例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验证用户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的行为，并且可以出现在父用例出现的任何地方，还可以添加自己的行为。</a:t>
            </a:r>
            <a:endParaRPr lang="zh-CN" altLang="en-US" sz="26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600" dirty="0"/>
          </a:p>
        </p:txBody>
      </p:sp>
      <p:graphicFrame>
        <p:nvGraphicFramePr>
          <p:cNvPr id="54275" name="Object 4"/>
          <p:cNvGraphicFramePr>
            <a:graphicFrameLocks noGrp="1"/>
          </p:cNvGraphicFramePr>
          <p:nvPr>
            <p:ph sz="half" idx="2"/>
          </p:nvPr>
        </p:nvGraphicFramePr>
        <p:xfrm>
          <a:off x="5513388" y="2917825"/>
          <a:ext cx="3522662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514090" imgH="1936115" progId="Visio.Drawing.11">
                  <p:embed/>
                </p:oleObj>
              </mc:Choice>
              <mc:Fallback>
                <p:oleObj name="" r:id="rId1" imgW="3514090" imgH="1936115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13388" y="2917825"/>
                        <a:ext cx="3522662" cy="19351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用例图实例</a:t>
            </a:r>
            <a:endParaRPr lang="zh-CN" altLang="en-US" dirty="0"/>
          </a:p>
        </p:txBody>
      </p:sp>
      <p:sp>
        <p:nvSpPr>
          <p:cNvPr id="55298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/>
            <a:r>
              <a:rPr lang="zh-CN" altLang="en-US" dirty="0">
                <a:latin typeface="宋体" pitchFamily="2" charset="-122"/>
              </a:rPr>
              <a:t>以前面图书信息管理系统为例，画出用例图。先找出参与系统的角色：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宋体" pitchFamily="2" charset="-122"/>
              </a:rPr>
              <a:t>（</a:t>
            </a:r>
            <a:r>
              <a:rPr lang="en-US" altLang="zh-CN" dirty="0">
                <a:latin typeface="宋体" pitchFamily="2" charset="-122"/>
              </a:rPr>
              <a:t>1</a:t>
            </a:r>
            <a:r>
              <a:rPr lang="zh-CN" altLang="en-US" dirty="0">
                <a:latin typeface="宋体" pitchFamily="2" charset="-122"/>
              </a:rPr>
              <a:t>）读者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宋体" pitchFamily="2" charset="-122"/>
              </a:rPr>
              <a:t> 描述：可以查询图书；预订和取消预订图书；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宋体" pitchFamily="2" charset="-122"/>
              </a:rPr>
              <a:t>（</a:t>
            </a:r>
            <a:r>
              <a:rPr lang="en-US" altLang="zh-CN" dirty="0">
                <a:latin typeface="宋体" pitchFamily="2" charset="-122"/>
              </a:rPr>
              <a:t>2</a:t>
            </a:r>
            <a:r>
              <a:rPr lang="zh-CN" altLang="en-US" dirty="0">
                <a:latin typeface="宋体" pitchFamily="2" charset="-122"/>
              </a:rPr>
              <a:t>）</a:t>
            </a:r>
            <a:r>
              <a:rPr lang="zh-CN" altLang="en-US" dirty="0">
                <a:latin typeface="Arial" panose="020B0604020202090204" pitchFamily="34" charset="0"/>
              </a:rPr>
              <a:t> </a:t>
            </a:r>
            <a:r>
              <a:rPr lang="zh-CN" altLang="en-US" dirty="0"/>
              <a:t>工作</a:t>
            </a:r>
            <a:r>
              <a:rPr lang="zh-CN" altLang="en-US" dirty="0">
                <a:latin typeface="宋体" pitchFamily="2" charset="-122"/>
              </a:rPr>
              <a:t>人员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宋体" pitchFamily="2" charset="-122"/>
              </a:rPr>
              <a:t> 描述：帮助读者实现借书、还书、预订书、取消预订、查询操作；</a:t>
            </a:r>
            <a:endParaRPr lang="zh-CN" altLang="en-US" dirty="0"/>
          </a:p>
          <a:p>
            <a:pPr algn="just" eaLnBrk="1" hangingPunct="1">
              <a:buNone/>
            </a:pPr>
            <a:endParaRPr lang="zh-CN" altLang="en-US" dirty="0">
              <a:latin typeface="宋体" pitchFamily="2" charset="-122"/>
              <a:ea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idx="1"/>
          </p:nvPr>
        </p:nvSpPr>
        <p:spPr>
          <a:xfrm>
            <a:off x="762000" y="1844675"/>
            <a:ext cx="7772400" cy="4032250"/>
          </a:xfrm>
        </p:spPr>
        <p:txBody>
          <a:bodyPr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2100" dirty="0">
                <a:latin typeface="宋体" pitchFamily="2" charset="-122"/>
              </a:rPr>
              <a:t>接下来我们从角色入手寻找用例。主要角色</a:t>
            </a:r>
            <a:r>
              <a:rPr lang="zh-CN" altLang="en-US" sz="2100" dirty="0">
                <a:latin typeface="Arial" panose="020B0604020202090204" pitchFamily="34" charset="0"/>
              </a:rPr>
              <a:t>“</a:t>
            </a:r>
            <a:r>
              <a:rPr lang="zh-CN" altLang="en-US" sz="2100" dirty="0">
                <a:latin typeface="宋体" pitchFamily="2" charset="-122"/>
              </a:rPr>
              <a:t>读者</a:t>
            </a:r>
            <a:r>
              <a:rPr lang="zh-CN" altLang="en-US" sz="2100" dirty="0">
                <a:latin typeface="Arial" panose="020B0604020202090204" pitchFamily="34" charset="0"/>
              </a:rPr>
              <a:t>”</a:t>
            </a:r>
            <a:r>
              <a:rPr lang="zh-CN" altLang="en-US" sz="2100" dirty="0">
                <a:latin typeface="宋体" pitchFamily="2" charset="-122"/>
              </a:rPr>
              <a:t>通过</a:t>
            </a:r>
            <a:r>
              <a:rPr lang="zh-CN" altLang="en-US" sz="2100" dirty="0">
                <a:latin typeface="Arial" panose="020B0604020202090204" pitchFamily="34" charset="0"/>
              </a:rPr>
              <a:t>“</a:t>
            </a:r>
            <a:r>
              <a:rPr lang="zh-CN" altLang="en-US" sz="2100" dirty="0">
                <a:latin typeface="宋体" pitchFamily="2" charset="-122"/>
              </a:rPr>
              <a:t>流通组工作人员</a:t>
            </a:r>
            <a:r>
              <a:rPr lang="zh-CN" altLang="en-US" sz="2100" dirty="0">
                <a:latin typeface="Arial" panose="020B0604020202090204" pitchFamily="34" charset="0"/>
              </a:rPr>
              <a:t>”</a:t>
            </a:r>
            <a:r>
              <a:rPr lang="zh-CN" altLang="en-US" sz="2100" dirty="0">
                <a:latin typeface="宋体" pitchFamily="2" charset="-122"/>
              </a:rPr>
              <a:t>实现预订图书、取消预订、借书、还书等活动。由此，可以找出下面的一些用例：</a:t>
            </a:r>
            <a:endParaRPr lang="zh-CN" altLang="en-US" sz="21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>
                <a:latin typeface="宋体" pitchFamily="2" charset="-122"/>
              </a:rPr>
              <a:t>（</a:t>
            </a:r>
            <a:r>
              <a:rPr lang="en-US" altLang="zh-CN" sz="2100" dirty="0">
                <a:latin typeface="宋体" pitchFamily="2" charset="-122"/>
              </a:rPr>
              <a:t>1</a:t>
            </a:r>
            <a:r>
              <a:rPr lang="zh-CN" altLang="en-US" sz="2100" dirty="0">
                <a:latin typeface="宋体" pitchFamily="2" charset="-122"/>
              </a:rPr>
              <a:t>）预订图书</a:t>
            </a:r>
            <a:r>
              <a:rPr lang="en-US" altLang="zh-CN" sz="2100" dirty="0">
                <a:latin typeface="Arial" panose="020B0604020202090204" pitchFamily="34" charset="0"/>
              </a:rPr>
              <a:t>——</a:t>
            </a:r>
            <a:r>
              <a:rPr lang="zh-CN" altLang="en-US" sz="2100" dirty="0">
                <a:latin typeface="宋体" pitchFamily="2" charset="-122"/>
              </a:rPr>
              <a:t>本用例提供了预订图书的功能，读者可以通过浏览器直接从网上预订图书；图书管理员也可以根据读者的要求预订某本图书。</a:t>
            </a:r>
            <a:endParaRPr lang="zh-CN" altLang="en-US" sz="21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>
                <a:latin typeface="宋体" pitchFamily="2" charset="-122"/>
              </a:rPr>
              <a:t>（</a:t>
            </a:r>
            <a:r>
              <a:rPr lang="en-US" altLang="zh-CN" sz="2100" dirty="0">
                <a:latin typeface="宋体" pitchFamily="2" charset="-122"/>
              </a:rPr>
              <a:t>2</a:t>
            </a:r>
            <a:r>
              <a:rPr lang="zh-CN" altLang="en-US" sz="2100" dirty="0">
                <a:latin typeface="宋体" pitchFamily="2" charset="-122"/>
              </a:rPr>
              <a:t>）取消预订</a:t>
            </a:r>
            <a:r>
              <a:rPr lang="en-US" altLang="zh-CN" sz="2100" dirty="0">
                <a:latin typeface="Arial" panose="020B0604020202090204" pitchFamily="34" charset="0"/>
              </a:rPr>
              <a:t>——</a:t>
            </a:r>
            <a:r>
              <a:rPr lang="zh-CN" altLang="en-US" sz="2100" dirty="0">
                <a:latin typeface="宋体" pitchFamily="2" charset="-122"/>
              </a:rPr>
              <a:t>本用例提供取消预订图书的功能。</a:t>
            </a:r>
            <a:endParaRPr lang="zh-CN" altLang="en-US" sz="21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>
                <a:latin typeface="宋体" pitchFamily="2" charset="-122"/>
              </a:rPr>
              <a:t>（</a:t>
            </a:r>
            <a:r>
              <a:rPr lang="en-US" altLang="zh-CN" sz="2100" dirty="0">
                <a:latin typeface="宋体" pitchFamily="2" charset="-122"/>
              </a:rPr>
              <a:t>3</a:t>
            </a:r>
            <a:r>
              <a:rPr lang="zh-CN" altLang="en-US" sz="2100" dirty="0">
                <a:latin typeface="宋体" pitchFamily="2" charset="-122"/>
              </a:rPr>
              <a:t>）还书</a:t>
            </a:r>
            <a:r>
              <a:rPr lang="en-US" altLang="zh-CN" sz="2100" dirty="0">
                <a:latin typeface="Arial" panose="020B0604020202090204" pitchFamily="34" charset="0"/>
              </a:rPr>
              <a:t>——</a:t>
            </a:r>
            <a:r>
              <a:rPr lang="zh-CN" altLang="en-US" sz="2100" dirty="0">
                <a:latin typeface="宋体" pitchFamily="2" charset="-122"/>
              </a:rPr>
              <a:t>完成还书任务，在还书是要检查所还的书是否超期、是否有其他读者预订，有的话要通知预订者。</a:t>
            </a:r>
            <a:endParaRPr lang="zh-CN" altLang="en-US" sz="21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>
                <a:latin typeface="宋体" pitchFamily="2" charset="-122"/>
              </a:rPr>
              <a:t>（</a:t>
            </a:r>
            <a:r>
              <a:rPr lang="en-US" altLang="zh-CN" sz="2100" dirty="0">
                <a:latin typeface="宋体" pitchFamily="2" charset="-122"/>
              </a:rPr>
              <a:t>4</a:t>
            </a:r>
            <a:r>
              <a:rPr lang="zh-CN" altLang="en-US" sz="2100" dirty="0">
                <a:latin typeface="宋体" pitchFamily="2" charset="-122"/>
              </a:rPr>
              <a:t>）借书</a:t>
            </a:r>
            <a:r>
              <a:rPr lang="en-US" altLang="zh-CN" sz="2100" dirty="0">
                <a:latin typeface="Arial" panose="020B0604020202090204" pitchFamily="34" charset="0"/>
              </a:rPr>
              <a:t>——</a:t>
            </a:r>
            <a:r>
              <a:rPr lang="zh-CN" altLang="en-US" sz="2100" dirty="0">
                <a:latin typeface="宋体" pitchFamily="2" charset="-122"/>
              </a:rPr>
              <a:t>提供借阅书功能</a:t>
            </a:r>
            <a:r>
              <a:rPr lang="zh-CN" altLang="en-US" sz="2100" dirty="0"/>
              <a:t> 。</a:t>
            </a:r>
            <a:endParaRPr lang="zh-CN" alt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/>
            <a:r>
              <a:rPr lang="zh-CN" altLang="en-US" dirty="0">
                <a:latin typeface="宋体" pitchFamily="2" charset="-122"/>
              </a:rPr>
              <a:t>分析这个用例图，发现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>
                <a:latin typeface="宋体" pitchFamily="2" charset="-122"/>
              </a:rPr>
              <a:t>还书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latin typeface="宋体" pitchFamily="2" charset="-122"/>
              </a:rPr>
              <a:t>用例应该被扩展，因为在还书时检查所还图书是否有预订记录，若有，则应该通知预订者前来借书。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/>
            <a:r>
              <a:rPr lang="zh-CN" altLang="en-US" dirty="0">
                <a:latin typeface="宋体" pitchFamily="2" charset="-122"/>
              </a:rPr>
              <a:t>当欲借图书已全部被借出时，应该可以转向</a:t>
            </a:r>
            <a:r>
              <a:rPr lang="zh-CN" altLang="en-US" dirty="0">
                <a:latin typeface="Arial" panose="020B0604020202090204" pitchFamily="34" charset="0"/>
              </a:rPr>
              <a:t>“</a:t>
            </a:r>
            <a:r>
              <a:rPr lang="zh-CN" altLang="en-US" dirty="0">
                <a:latin typeface="宋体" pitchFamily="2" charset="-122"/>
              </a:rPr>
              <a:t>预订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zh-CN" altLang="en-US" dirty="0">
                <a:latin typeface="宋体" pitchFamily="2" charset="-122"/>
              </a:rPr>
              <a:t>用例。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/>
            <a:r>
              <a:rPr lang="zh-CN" altLang="en-US" dirty="0">
                <a:latin typeface="宋体" pitchFamily="2" charset="-122"/>
              </a:rPr>
              <a:t>读者可以直接从网上查询、预订或取消预订图书。根据以上几点，画出初始的用例图如下：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/>
          <p:nvPr/>
        </p:nvSpPr>
        <p:spPr>
          <a:xfrm>
            <a:off x="3005138" y="2495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sp>
        <p:nvSpPr>
          <p:cNvPr id="58370" name="Rectangle 3"/>
          <p:cNvSpPr/>
          <p:nvPr/>
        </p:nvSpPr>
        <p:spPr>
          <a:xfrm>
            <a:off x="2724150" y="23288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58371" name="Object 4"/>
          <p:cNvGraphicFramePr/>
          <p:nvPr/>
        </p:nvGraphicFramePr>
        <p:xfrm>
          <a:off x="533400" y="642938"/>
          <a:ext cx="8610600" cy="512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3696970" imgH="2204720" progId="Visio.Drawing.11">
                  <p:embed/>
                </p:oleObj>
              </mc:Choice>
              <mc:Fallback>
                <p:oleObj name="" r:id="rId1" imgW="3696970" imgH="2204720" progId="Visio.Drawing.11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642938"/>
                        <a:ext cx="8610600" cy="5126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注意</a:t>
            </a:r>
            <a:endParaRPr lang="zh-CN" altLang="en-US" dirty="0"/>
          </a:p>
        </p:txBody>
      </p:sp>
      <p:sp>
        <p:nvSpPr>
          <p:cNvPr id="59394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2600" dirty="0">
                <a:latin typeface="宋体" pitchFamily="2" charset="-122"/>
              </a:rPr>
              <a:t>在画用例图时要特别注意：用例图是系统分析、设计和实现的一个最基础的图形，</a:t>
            </a:r>
            <a:r>
              <a:rPr lang="zh-CN" altLang="en-US" sz="2600" b="1" dirty="0">
                <a:solidFill>
                  <a:srgbClr val="FF0000"/>
                </a:solidFill>
                <a:latin typeface="宋体" pitchFamily="2" charset="-122"/>
              </a:rPr>
              <a:t>在初期是不一定要考虑太多的处理细节</a:t>
            </a:r>
            <a:r>
              <a:rPr lang="zh-CN" altLang="en-US" sz="2600" dirty="0">
                <a:latin typeface="宋体" pitchFamily="2" charset="-122"/>
              </a:rPr>
              <a:t>。</a:t>
            </a:r>
            <a:endParaRPr lang="zh-CN" altLang="en-US" sz="2600" dirty="0">
              <a:latin typeface="宋体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600" dirty="0">
                <a:latin typeface="宋体" pitchFamily="2" charset="-122"/>
              </a:rPr>
              <a:t>一个用例内部的具体处理细节是由其他图形工具描述的，用例图只是反映系统的总体功能，以及与这些功能的相关的角色。有些人可能在画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借书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用例时，情不自禁地就考虑了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输入读者号和书号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，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检查图书是否在库？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，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图书数量减</a:t>
            </a:r>
            <a:r>
              <a:rPr lang="en-US" altLang="zh-CN" sz="2600" dirty="0">
                <a:latin typeface="宋体" pitchFamily="2" charset="-122"/>
              </a:rPr>
              <a:t>1</a:t>
            </a:r>
            <a:r>
              <a:rPr lang="en-US" altLang="zh-CN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，</a:t>
            </a:r>
            <a:r>
              <a:rPr lang="zh-CN" altLang="en-US" sz="2600" dirty="0">
                <a:latin typeface="Arial" panose="020B0604020202090204" pitchFamily="34" charset="0"/>
              </a:rPr>
              <a:t>“</a:t>
            </a:r>
            <a:r>
              <a:rPr lang="zh-CN" altLang="en-US" sz="2600" dirty="0">
                <a:latin typeface="宋体" pitchFamily="2" charset="-122"/>
              </a:rPr>
              <a:t>添加读者借书记录</a:t>
            </a:r>
            <a:r>
              <a:rPr lang="zh-CN" altLang="en-US" sz="2600" dirty="0">
                <a:latin typeface="Arial" panose="020B0604020202090204" pitchFamily="34" charset="0"/>
              </a:rPr>
              <a:t>”</a:t>
            </a:r>
            <a:r>
              <a:rPr lang="zh-CN" altLang="en-US" sz="2600" dirty="0">
                <a:latin typeface="宋体" pitchFamily="2" charset="-122"/>
              </a:rPr>
              <a:t>等等，一旦考虑了这些细节，就会发现用例图画不下去了。因此，读者注意用例图中不要考虑处理细节。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Group 3"/>
          <p:cNvGraphicFramePr/>
          <p:nvPr/>
        </p:nvGraphicFramePr>
        <p:xfrm>
          <a:off x="684213" y="1111250"/>
          <a:ext cx="7772400" cy="4746625"/>
        </p:xfrm>
        <a:graphic>
          <a:graphicData uri="http://schemas.openxmlformats.org/drawingml/2006/table">
            <a:tbl>
              <a:tblPr/>
              <a:tblGrid>
                <a:gridCol w="720725"/>
                <a:gridCol w="287337"/>
                <a:gridCol w="719138"/>
                <a:gridCol w="865187"/>
                <a:gridCol w="1943100"/>
                <a:gridCol w="1008063"/>
                <a:gridCol w="2228850"/>
              </a:tblGrid>
              <a:tr h="266700">
                <a:tc gridSpan="7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Use Case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：借书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6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ID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UC1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参与者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流通部工作人员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交叉引用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…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描述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读者带着所要借的图书和借书证来到流通部，工作人员记录下图书和借书证信息，借书完成后，读者带着所借图书离开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0038"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前置条件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工作人员选择借书菜单项，系统显示借书窗口</a:t>
                      </a:r>
                      <a:endParaRPr kumimoji="1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59905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5300" algn="l"/>
                        </a:tabLst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基本事件流：</a:t>
                      </a:r>
                      <a:endParaRPr kumimoji="1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工作人员选择借书菜单项，系统显示借书窗口</a:t>
                      </a:r>
                      <a:endParaRPr kumimoji="1" lang="en-US" altLang="zh-CN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输入读者号</a:t>
                      </a:r>
                      <a:endParaRPr kumimoji="1" lang="en-US" altLang="zh-CN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输入图书号</a:t>
                      </a:r>
                      <a:endParaRPr kumimoji="1" lang="en-US" altLang="zh-CN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系统显示图书在库数量</a:t>
                      </a:r>
                      <a:endParaRPr kumimoji="1" lang="en-US" altLang="zh-CN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当在库数量</a:t>
                      </a:r>
                      <a:r>
                        <a:rPr kumimoji="1" lang="en-US" altLang="zh-CN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》1</a:t>
                      </a:r>
                      <a:r>
                        <a:rPr kumimoji="1" lang="zh-CN" altLang="en-US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时，单击借书按钮</a:t>
                      </a:r>
                      <a:endParaRPr kumimoji="1" lang="zh-CN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00075">
                <a:tc gridSpan="7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l"/>
                        </a:tabLst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备选事件流：</a:t>
                      </a:r>
                      <a:endParaRPr kumimoji="1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533400" algn="l"/>
                        </a:tabLst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   第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步：显示读者号无效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533400" algn="l"/>
                        </a:tabLst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   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第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3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步：显示图书号无效</a:t>
                      </a:r>
                      <a:endParaRPr kumimoji="1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5300" algn="l"/>
                        </a:tabLst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   第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5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步：可借图书数量为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0</a:t>
                      </a:r>
                      <a:endParaRPr kumimoji="1" lang="zh-CN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6700"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后置条件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借书成功，显示借书完成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117475"/>
            <a:ext cx="7696200" cy="1439863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en-US" dirty="0"/>
              <a:t>用例图练习</a:t>
            </a:r>
            <a:r>
              <a:rPr lang="en-US" altLang="zh-CN" dirty="0"/>
              <a:t>-</a:t>
            </a:r>
            <a:r>
              <a:rPr lang="zh-CN" altLang="en-US" dirty="0"/>
              <a:t>自己</a:t>
            </a:r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61442" name="Rectangle 3"/>
          <p:cNvSpPr>
            <a:spLocks noGrp="1"/>
          </p:cNvSpPr>
          <p:nvPr>
            <p:ph type="body" idx="4294967295"/>
          </p:nvPr>
        </p:nvSpPr>
        <p:spPr>
          <a:xfrm>
            <a:off x="755650" y="1890713"/>
            <a:ext cx="7696200" cy="4275137"/>
          </a:xfrm>
        </p:spPr>
        <p:txBody>
          <a:bodyPr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500" dirty="0"/>
              <a:t>下面是关于一个公司的人事信息管理系统的需求的简单描述</a:t>
            </a:r>
            <a:r>
              <a:rPr lang="en-US" altLang="zh-CN" sz="2500" dirty="0"/>
              <a:t>, </a:t>
            </a:r>
            <a:r>
              <a:rPr lang="zh-CN" altLang="en-US" sz="2500" dirty="0"/>
              <a:t>建立其相应的用例模型</a:t>
            </a:r>
            <a:r>
              <a:rPr lang="en-US" altLang="zh-CN" sz="2500" dirty="0"/>
              <a:t>: </a:t>
            </a:r>
            <a:r>
              <a:rPr lang="zh-CN" altLang="en-US" sz="2500" b="1" dirty="0">
                <a:solidFill>
                  <a:srgbClr val="0000FF"/>
                </a:solidFill>
              </a:rPr>
              <a:t>该人事管理系统的用户是公司的</a:t>
            </a:r>
            <a:r>
              <a:rPr lang="zh-CN" altLang="en-US" sz="2500" b="1" dirty="0">
                <a:solidFill>
                  <a:srgbClr val="FF0000"/>
                </a:solidFill>
              </a:rPr>
              <a:t>人事管理干部</a:t>
            </a:r>
            <a:r>
              <a:rPr lang="en-US" altLang="zh-CN" sz="2500" dirty="0"/>
              <a:t>. </a:t>
            </a:r>
            <a:r>
              <a:rPr lang="zh-CN" altLang="en-US" sz="2500" dirty="0"/>
              <a:t>该系统具有人事档案库</a:t>
            </a:r>
            <a:r>
              <a:rPr lang="en-US" altLang="zh-CN" sz="2500" dirty="0"/>
              <a:t>, </a:t>
            </a:r>
            <a:r>
              <a:rPr lang="zh-CN" altLang="en-US" sz="2500" b="1" dirty="0">
                <a:solidFill>
                  <a:srgbClr val="0000FF"/>
                </a:solidFill>
              </a:rPr>
              <a:t>保存员工的人事信息</a:t>
            </a:r>
            <a:r>
              <a:rPr lang="en-US" altLang="zh-CN" sz="2500" dirty="0"/>
              <a:t>, </a:t>
            </a:r>
            <a:r>
              <a:rPr lang="zh-CN" altLang="en-US" sz="2500" dirty="0"/>
              <a:t>包括姓名</a:t>
            </a:r>
            <a:r>
              <a:rPr lang="en-US" altLang="zh-CN" sz="2500" dirty="0"/>
              <a:t>, </a:t>
            </a:r>
            <a:r>
              <a:rPr lang="zh-CN" altLang="en-US" sz="2500" dirty="0"/>
              <a:t>性别</a:t>
            </a:r>
            <a:r>
              <a:rPr lang="en-US" altLang="zh-CN" sz="2500" dirty="0"/>
              <a:t>, </a:t>
            </a:r>
            <a:r>
              <a:rPr lang="zh-CN" altLang="en-US" sz="2500" dirty="0"/>
              <a:t>出生年月</a:t>
            </a:r>
            <a:r>
              <a:rPr lang="en-US" altLang="zh-CN" sz="2500" dirty="0"/>
              <a:t>, </a:t>
            </a:r>
            <a:r>
              <a:rPr lang="zh-CN" altLang="en-US" sz="2500" dirty="0"/>
              <a:t>健康状况</a:t>
            </a:r>
            <a:r>
              <a:rPr lang="en-US" altLang="zh-CN" sz="2500" dirty="0"/>
              <a:t>, </a:t>
            </a:r>
            <a:r>
              <a:rPr lang="zh-CN" altLang="en-US" sz="2500" dirty="0"/>
              <a:t>文化程度</a:t>
            </a:r>
            <a:r>
              <a:rPr lang="en-US" altLang="zh-CN" sz="2500" dirty="0"/>
              <a:t>, </a:t>
            </a:r>
            <a:r>
              <a:rPr lang="zh-CN" altLang="en-US" sz="2500" dirty="0"/>
              <a:t>学位</a:t>
            </a:r>
            <a:r>
              <a:rPr lang="en-US" altLang="zh-CN" sz="2500" dirty="0"/>
              <a:t>, </a:t>
            </a:r>
            <a:r>
              <a:rPr lang="zh-CN" altLang="en-US" sz="2500" dirty="0"/>
              <a:t>职称</a:t>
            </a:r>
            <a:r>
              <a:rPr lang="en-US" altLang="zh-CN" sz="2500" dirty="0"/>
              <a:t>, </a:t>
            </a:r>
            <a:r>
              <a:rPr lang="zh-CN" altLang="en-US" sz="2500" dirty="0"/>
              <a:t>岗位</a:t>
            </a:r>
            <a:r>
              <a:rPr lang="en-US" altLang="zh-CN" sz="2500" dirty="0"/>
              <a:t>, </a:t>
            </a:r>
            <a:r>
              <a:rPr lang="zh-CN" altLang="en-US" sz="2500" dirty="0"/>
              <a:t>聘任时间</a:t>
            </a:r>
            <a:r>
              <a:rPr lang="en-US" altLang="zh-CN" sz="2500" dirty="0"/>
              <a:t>, </a:t>
            </a:r>
            <a:r>
              <a:rPr lang="zh-CN" altLang="en-US" sz="2500" dirty="0"/>
              <a:t>任期</a:t>
            </a:r>
            <a:r>
              <a:rPr lang="en-US" altLang="zh-CN" sz="2500" dirty="0"/>
              <a:t>, </a:t>
            </a:r>
            <a:r>
              <a:rPr lang="zh-CN" altLang="en-US" sz="2500" dirty="0"/>
              <a:t>工资</a:t>
            </a:r>
            <a:r>
              <a:rPr lang="en-US" altLang="zh-CN" sz="2500" dirty="0"/>
              <a:t>, </a:t>
            </a:r>
            <a:r>
              <a:rPr lang="zh-CN" altLang="en-US" sz="2500" dirty="0"/>
              <a:t>津贴</a:t>
            </a:r>
            <a:r>
              <a:rPr lang="en-US" altLang="zh-CN" sz="2500" dirty="0"/>
              <a:t>, </a:t>
            </a:r>
            <a:r>
              <a:rPr lang="zh-CN" altLang="en-US" sz="2500" dirty="0"/>
              <a:t>奖罚记录</a:t>
            </a:r>
            <a:r>
              <a:rPr lang="en-US" altLang="zh-CN" sz="2500" dirty="0"/>
              <a:t>, </a:t>
            </a:r>
            <a:r>
              <a:rPr lang="zh-CN" altLang="en-US" sz="2500" dirty="0"/>
              <a:t>业绩</a:t>
            </a:r>
            <a:r>
              <a:rPr lang="en-US" altLang="zh-CN" sz="2500" dirty="0"/>
              <a:t>, </a:t>
            </a:r>
            <a:r>
              <a:rPr lang="zh-CN" altLang="en-US" sz="2500" dirty="0"/>
              <a:t>论著和家庭情况等</a:t>
            </a:r>
            <a:r>
              <a:rPr lang="en-US" altLang="zh-CN" sz="2500" dirty="0"/>
              <a:t>, </a:t>
            </a:r>
            <a:r>
              <a:rPr lang="zh-CN" altLang="en-US" sz="2500" dirty="0"/>
              <a:t>系统提供的基本服务有</a:t>
            </a:r>
            <a:r>
              <a:rPr lang="zh-CN" altLang="en-US" sz="2500" b="1" dirty="0">
                <a:solidFill>
                  <a:srgbClr val="0000FF"/>
                </a:solidFill>
              </a:rPr>
              <a:t>人事信息的管理</a:t>
            </a:r>
            <a:r>
              <a:rPr lang="en-US" altLang="zh-CN" sz="2500" dirty="0"/>
              <a:t>, </a:t>
            </a:r>
            <a:r>
              <a:rPr lang="zh-CN" altLang="en-US" sz="2500" b="1" dirty="0"/>
              <a:t>包括人事</a:t>
            </a:r>
            <a:r>
              <a:rPr lang="zh-CN" altLang="en-US" sz="2500" b="1" dirty="0">
                <a:solidFill>
                  <a:srgbClr val="0000FF"/>
                </a:solidFill>
              </a:rPr>
              <a:t>规定的</a:t>
            </a:r>
            <a:r>
              <a:rPr lang="zh-CN" altLang="en-US" sz="2500" b="1" dirty="0"/>
              <a:t>调动与聘任</a:t>
            </a:r>
            <a:r>
              <a:rPr lang="en-US" altLang="zh-CN" sz="2500" b="1" dirty="0"/>
              <a:t>, </a:t>
            </a:r>
            <a:r>
              <a:rPr lang="zh-CN" altLang="en-US" sz="2500" b="1" dirty="0"/>
              <a:t>职称评定</a:t>
            </a:r>
            <a:r>
              <a:rPr lang="en-US" altLang="zh-CN" sz="2500" b="1" dirty="0"/>
              <a:t>, </a:t>
            </a:r>
            <a:r>
              <a:rPr lang="zh-CN" altLang="en-US" sz="2500" b="1" dirty="0"/>
              <a:t>奖罚等</a:t>
            </a:r>
            <a:r>
              <a:rPr lang="en-US" altLang="zh-CN" sz="2500" dirty="0"/>
              <a:t>, </a:t>
            </a:r>
            <a:r>
              <a:rPr lang="zh-CN" altLang="en-US" sz="2500" dirty="0"/>
              <a:t>并且可以</a:t>
            </a:r>
            <a:r>
              <a:rPr lang="zh-CN" altLang="en-US" sz="2500" b="1" dirty="0">
                <a:solidFill>
                  <a:srgbClr val="0000FF"/>
                </a:solidFill>
              </a:rPr>
              <a:t>按照限查询人事信息</a:t>
            </a:r>
            <a:r>
              <a:rPr lang="en-US" altLang="zh-CN" sz="2500" b="1" dirty="0">
                <a:solidFill>
                  <a:srgbClr val="0000FF"/>
                </a:solidFill>
              </a:rPr>
              <a:t>, </a:t>
            </a:r>
            <a:r>
              <a:rPr lang="zh-CN" altLang="en-US" sz="2500" b="1" dirty="0">
                <a:solidFill>
                  <a:srgbClr val="0000FF"/>
                </a:solidFill>
              </a:rPr>
              <a:t>生成与输出统计报表</a:t>
            </a:r>
            <a:r>
              <a:rPr lang="zh-CN" altLang="en-US" sz="2500" dirty="0"/>
              <a:t>等</a:t>
            </a:r>
            <a:r>
              <a:rPr lang="en-US" altLang="zh-CN" sz="2500" dirty="0"/>
              <a:t>. </a:t>
            </a:r>
            <a:r>
              <a:rPr lang="zh-CN" altLang="en-US" sz="2500" dirty="0"/>
              <a:t>该人事系统每月</a:t>
            </a:r>
            <a:r>
              <a:rPr lang="zh-CN" altLang="en-US" sz="2500" b="1" dirty="0">
                <a:solidFill>
                  <a:srgbClr val="0000FF"/>
                </a:solidFill>
              </a:rPr>
              <a:t>向公司的财务系统提供员工的工资</a:t>
            </a:r>
            <a:r>
              <a:rPr lang="en-US" altLang="zh-CN" sz="2500" b="1" dirty="0">
                <a:solidFill>
                  <a:srgbClr val="0000FF"/>
                </a:solidFill>
              </a:rPr>
              <a:t>, </a:t>
            </a:r>
            <a:r>
              <a:rPr lang="zh-CN" altLang="en-US" sz="2500" b="1" dirty="0">
                <a:solidFill>
                  <a:srgbClr val="0000FF"/>
                </a:solidFill>
              </a:rPr>
              <a:t>津贴等数据</a:t>
            </a:r>
            <a:r>
              <a:rPr lang="en-US" altLang="zh-CN" sz="2500" b="1" dirty="0">
                <a:solidFill>
                  <a:srgbClr val="0000FF"/>
                </a:solidFill>
              </a:rPr>
              <a:t>.</a:t>
            </a:r>
            <a:endParaRPr lang="en-US" altLang="zh-CN" sz="25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25" y="981075"/>
            <a:ext cx="6481763" cy="5508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IzNjAwNjlmM2QwZGRkZWM4Y2Y5YzAyYmEzMDUyMjMifQ=="/>
  <p:tag name="KSO_WPP_MARK_KEY" val="b791c066-0eb2-43c9-83ee-806b48cde4b4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3386</Words>
  <Application>WPS 演示</Application>
  <PresentationFormat>全屏显示(4:3)</PresentationFormat>
  <Paragraphs>235</Paragraphs>
  <Slides>17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Verdana</vt:lpstr>
      <vt:lpstr>汉仪书宋二KW</vt:lpstr>
      <vt:lpstr>Times New Roman</vt:lpstr>
      <vt:lpstr>微软雅黑</vt:lpstr>
      <vt:lpstr>汉仪旗黑</vt:lpstr>
      <vt:lpstr>宋体</vt:lpstr>
      <vt:lpstr>Arial Unicode MS</vt:lpstr>
      <vt:lpstr>Wingdings</vt:lpstr>
      <vt:lpstr>Profile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5.5用例图—认识用例图</vt:lpstr>
      <vt:lpstr>5.5 用例图（续）</vt:lpstr>
      <vt:lpstr>用例</vt:lpstr>
      <vt:lpstr>角色</vt:lpstr>
      <vt:lpstr>关系——角色与用例之间的关系</vt:lpstr>
      <vt:lpstr>用例之间的关系</vt:lpstr>
      <vt:lpstr>用例之间的关系（续）</vt:lpstr>
      <vt:lpstr>用例或角色之间的继承关系</vt:lpstr>
      <vt:lpstr>注意</vt:lpstr>
      <vt:lpstr>用例图实例</vt:lpstr>
      <vt:lpstr>PowerPoint 演示文稿</vt:lpstr>
      <vt:lpstr>PowerPoint 演示文稿</vt:lpstr>
      <vt:lpstr>PowerPoint 演示文稿</vt:lpstr>
      <vt:lpstr>注意</vt:lpstr>
      <vt:lpstr>PowerPoint 演示文稿</vt:lpstr>
      <vt:lpstr>用例图练习-自己练习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第六讲 面向对象的分析</dc:title>
  <dc:creator>wjm</dc:creator>
  <cp:lastModifiedBy>光华</cp:lastModifiedBy>
  <cp:revision>195</cp:revision>
  <dcterms:created xsi:type="dcterms:W3CDTF">2026-05-09T08:29:53Z</dcterms:created>
  <dcterms:modified xsi:type="dcterms:W3CDTF">2026-05-09T08:29:53Z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B9481E47CC4D3009B708F8690BE016A0_43</vt:lpwstr>
  </property>
</Properties>
</file>